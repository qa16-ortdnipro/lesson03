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401" r:id="rId2"/>
    <p:sldId id="402" r:id="rId3"/>
    <p:sldId id="384" r:id="rId4"/>
    <p:sldId id="385" r:id="rId5"/>
    <p:sldId id="387" r:id="rId6"/>
    <p:sldId id="388" r:id="rId7"/>
    <p:sldId id="386" r:id="rId8"/>
    <p:sldId id="389" r:id="rId9"/>
    <p:sldId id="390" r:id="rId10"/>
    <p:sldId id="391" r:id="rId11"/>
    <p:sldId id="392" r:id="rId12"/>
    <p:sldId id="394" r:id="rId13"/>
    <p:sldId id="395" r:id="rId14"/>
    <p:sldId id="381" r:id="rId15"/>
    <p:sldId id="399" r:id="rId16"/>
    <p:sldId id="398" r:id="rId17"/>
    <p:sldId id="342" r:id="rId18"/>
    <p:sldId id="371" r:id="rId19"/>
    <p:sldId id="372" r:id="rId20"/>
    <p:sldId id="373" r:id="rId21"/>
    <p:sldId id="370" r:id="rId22"/>
    <p:sldId id="403" r:id="rId23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636" y="13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522811-C5C6-42D2-A409-F8556720C93F}" type="datetimeFigureOut">
              <a:rPr lang="uk-UA" smtClean="0"/>
              <a:pPr/>
              <a:t>22.11.2020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68688-711B-4328-ACFB-54B46FA90133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72346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668688-711B-4328-ACFB-54B46FA90133}" type="slidenum">
              <a:rPr lang="uk-UA" smtClean="0"/>
              <a:pPr/>
              <a:t>1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68274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E6AC4-C3FE-4E70-88D1-136405B25267}" type="datetime1">
              <a:rPr lang="uk-UA" smtClean="0"/>
              <a:pPr/>
              <a:t>22.11.2020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2E168-B245-4D8D-8538-B29990DBF87B}" type="datetime1">
              <a:rPr lang="uk-UA" smtClean="0"/>
              <a:pPr/>
              <a:t>22.11.2020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DAF6E-7007-4E61-B36E-794BF232B234}" type="datetime1">
              <a:rPr lang="uk-UA" smtClean="0"/>
              <a:pPr/>
              <a:t>22.11.2020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141DD-FE72-44AA-B946-B70892F1F5B7}" type="datetime1">
              <a:rPr lang="uk-UA" smtClean="0"/>
              <a:pPr/>
              <a:t>22.11.2020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4DC7C-6CC4-4D1F-A21B-A650800E0532}" type="datetime1">
              <a:rPr lang="uk-UA" smtClean="0"/>
              <a:pPr/>
              <a:t>22.11.2020</a:t>
            </a:fld>
            <a:endParaRPr lang="uk-UA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753FA-BE70-4E9D-A1A2-A798C2E22C2C}" type="datetime1">
              <a:rPr lang="uk-UA" smtClean="0"/>
              <a:pPr/>
              <a:t>22.11.2020</a:t>
            </a:fld>
            <a:endParaRPr lang="uk-UA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E9D1B-A194-48C6-B5A1-4C29D0F81227}" type="datetime1">
              <a:rPr lang="uk-UA" smtClean="0"/>
              <a:pPr/>
              <a:t>22.11.2020</a:t>
            </a:fld>
            <a:endParaRPr lang="uk-UA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C5B78-3AEE-4E8C-84A2-DF8B252C6B7D}" type="datetime1">
              <a:rPr lang="uk-UA" smtClean="0"/>
              <a:pPr/>
              <a:t>22.11.2020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6AC05-7690-4D29-B090-15CFA8055B58}" type="datetime1">
              <a:rPr lang="uk-UA" smtClean="0"/>
              <a:pPr/>
              <a:t>22.11.2020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85949-5AE9-41F1-B18C-DA1006B0E8CC}" type="datetime1">
              <a:rPr lang="uk-UA" smtClean="0"/>
              <a:pPr/>
              <a:t>22.11.2020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C227C-94C5-4BA1-A89C-1C7570144B22}" type="datetime1">
              <a:rPr lang="uk-UA" smtClean="0"/>
              <a:pPr/>
              <a:t>22.11.2020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78AB5-85A2-4D58-9351-A198925B541D}" type="datetime1">
              <a:rPr lang="uk-UA" smtClean="0"/>
              <a:pPr/>
              <a:t>22.11.2020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9AA22-90B4-448C-8B6B-C699140D38B9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hyperlink" Target="https://ru.wikipedia.org/wiki/&#1057;&#1086;&#1073;&#1099;&#1090;&#1080;&#1081;&#1085;&#1086;-&#1086;&#1088;&#1080;&#1077;&#1085;&#1090;&#1080;&#1088;&#1086;&#1074;&#1072;&#1085;&#1085;&#1086;&#1077;_&#1087;&#1088;&#1086;&#1075;&#1088;&#1072;&#1084;&#1084;&#1080;&#1088;&#1086;&#1074;&#1072;&#1085;&#1080;&#1077;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u.wikipedia.org/wiki/&#1048;&#1085;&#1090;&#1077;&#1088;&#1072;&#1082;&#1090;&#1080;&#1074;&#1085;&#1086;&#1089;&#1090;&#1100;" TargetMode="Externa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filebase.xyz/storage/qa/javascript-example.zip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s://youtu.be/SW_UCzFO7X0?t=16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643335"/>
            <a:ext cx="12192000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bg1"/>
                </a:solidFill>
                <a:latin typeface="+mj-lt"/>
              </a:rPr>
              <a:t>Web Basis</a:t>
            </a:r>
            <a:r>
              <a:rPr lang="ru-RU" sz="4400" b="1" dirty="0" smtClean="0">
                <a:solidFill>
                  <a:schemeClr val="bg1"/>
                </a:solidFill>
                <a:latin typeface="+mj-lt"/>
              </a:rPr>
              <a:t>: </a:t>
            </a:r>
            <a:r>
              <a:rPr lang="ru-RU" sz="4400" b="1" dirty="0" smtClean="0">
                <a:solidFill>
                  <a:srgbClr val="FFFF00"/>
                </a:solidFill>
                <a:latin typeface="+mj-lt"/>
              </a:rPr>
              <a:t>Логика</a:t>
            </a:r>
            <a:endParaRPr lang="uk-UA" sz="4400" b="1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-1" y="5684704"/>
            <a:ext cx="12192001" cy="5847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uk-UA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r>
              <a:rPr lang="en-US" sz="3200" b="1" dirty="0" smtClean="0">
                <a:solidFill>
                  <a:schemeClr val="bg1"/>
                </a:solidFill>
                <a:cs typeface="Segoe UI Semibold" panose="020B0702040204020203" pitchFamily="34" charset="0"/>
              </a:rPr>
              <a:t>ORT</a:t>
            </a:r>
            <a:r>
              <a:rPr lang="en-US" sz="3200" b="1" dirty="0" smtClean="0">
                <a:solidFill>
                  <a:srgbClr val="15DFED"/>
                </a:solidFill>
                <a:cs typeface="Segoe UI Semibold" panose="020B0702040204020203" pitchFamily="34" charset="0"/>
              </a:rPr>
              <a:t>DNIPRO</a:t>
            </a:r>
            <a:r>
              <a:rPr lang="en-US" sz="3200" b="1" dirty="0" smtClean="0">
                <a:solidFill>
                  <a:schemeClr val="bg1"/>
                </a:solidFill>
                <a:cs typeface="Segoe UI Semibold" panose="020B0702040204020203" pitchFamily="34" charset="0"/>
              </a:rPr>
              <a:t>.ORG</a:t>
            </a:r>
            <a:r>
              <a:rPr lang="en-US" sz="3200" b="1" dirty="0" smtClean="0">
                <a:solidFill>
                  <a:srgbClr val="17DDEC"/>
                </a:solidFill>
                <a:cs typeface="Segoe UI Semibold" panose="020B0702040204020203" pitchFamily="34" charset="0"/>
              </a:rPr>
              <a:t>/QA</a:t>
            </a:r>
            <a:endParaRPr lang="en-US" sz="3600" b="1" dirty="0">
              <a:solidFill>
                <a:srgbClr val="17DDEC"/>
              </a:solidFill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625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" y="5157192"/>
            <a:ext cx="12191999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0" b="1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qa16</a:t>
            </a:r>
            <a:r>
              <a:rPr lang="en-US" sz="6000" b="1" dirty="0" smtClean="0">
                <a:solidFill>
                  <a:srgbClr val="002060"/>
                </a:solidFill>
                <a:latin typeface="+mj-lt"/>
              </a:rPr>
              <a:t>.</a:t>
            </a:r>
            <a:r>
              <a:rPr lang="en-US" sz="6000" b="1" dirty="0" smtClean="0">
                <a:solidFill>
                  <a:srgbClr val="00B050"/>
                </a:solidFill>
                <a:latin typeface="+mj-lt"/>
              </a:rPr>
              <a:t>ortdnipro</a:t>
            </a:r>
            <a:r>
              <a:rPr lang="en-US" sz="6000" b="1" dirty="0" smtClean="0">
                <a:solidFill>
                  <a:srgbClr val="002060"/>
                </a:solidFill>
                <a:latin typeface="+mj-lt"/>
              </a:rPr>
              <a:t>.</a:t>
            </a:r>
            <a:r>
              <a:rPr lang="en-US" sz="6000" b="1" dirty="0" smtClean="0">
                <a:solidFill>
                  <a:srgbClr val="0070C0"/>
                </a:solidFill>
                <a:latin typeface="+mj-lt"/>
              </a:rPr>
              <a:t>org</a:t>
            </a:r>
            <a:endParaRPr lang="uk-UA" sz="5400" b="1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6" name="Номер слайда 36"/>
          <p:cNvSpPr>
            <a:spLocks noGrp="1"/>
          </p:cNvSpPr>
          <p:nvPr>
            <p:ph type="sldNum" sz="quarter" idx="12"/>
          </p:nvPr>
        </p:nvSpPr>
        <p:spPr>
          <a:xfrm>
            <a:off x="11136560" y="6165304"/>
            <a:ext cx="648072" cy="432048"/>
          </a:xfrm>
          <a:prstGeom prst="round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/>
              <a:t>2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1601505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b="1" dirty="0">
                <a:solidFill>
                  <a:srgbClr val="0070C0"/>
                </a:solidFill>
              </a:rPr>
              <a:t>Наша группа</a:t>
            </a:r>
            <a:r>
              <a:rPr lang="en-US" sz="6600" b="1" dirty="0">
                <a:solidFill>
                  <a:srgbClr val="0070C0"/>
                </a:solidFill>
              </a:rPr>
              <a:t>:</a:t>
            </a:r>
            <a:r>
              <a:rPr lang="ru-RU" sz="6600" b="1" dirty="0">
                <a:solidFill>
                  <a:srgbClr val="0070C0"/>
                </a:solidFill>
              </a:rPr>
              <a:t> </a:t>
            </a:r>
            <a:r>
              <a:rPr lang="en-US" sz="8000" b="1" dirty="0" smtClean="0">
                <a:solidFill>
                  <a:srgbClr val="C00000"/>
                </a:solidFill>
              </a:rPr>
              <a:t>QA16</a:t>
            </a:r>
            <a:endParaRPr lang="ru-RU" sz="6600" b="1" dirty="0">
              <a:solidFill>
                <a:srgbClr val="C00000"/>
              </a:solidFill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4511824" y="3501008"/>
            <a:ext cx="2997146" cy="1152128"/>
            <a:chOff x="5516438" y="3825044"/>
            <a:chExt cx="2997146" cy="1152128"/>
          </a:xfrm>
        </p:grpSpPr>
        <p:pic>
          <p:nvPicPr>
            <p:cNvPr id="7" name="Рисунок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16438" y="3825044"/>
              <a:ext cx="1152128" cy="115212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026" name="Picture 2" descr="https://image.flaticon.com/icons/png/512/25/25437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2755" y="3865693"/>
              <a:ext cx="1070829" cy="1070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Заголовок 1"/>
          <p:cNvSpPr txBox="1">
            <a:spLocks/>
          </p:cNvSpPr>
          <p:nvPr/>
        </p:nvSpPr>
        <p:spPr>
          <a:xfrm>
            <a:off x="2206302" y="189261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ru-RU" sz="4000" b="1" dirty="0" smtClean="0"/>
              <a:t>Где взять материалы</a:t>
            </a:r>
            <a:r>
              <a:rPr lang="en-US" sz="4000" b="1" dirty="0" smtClean="0"/>
              <a:t>?</a:t>
            </a:r>
            <a:endParaRPr lang="ru-RU" sz="40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85278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 smtClean="0"/>
              <a:t>1. </a:t>
            </a:r>
            <a:r>
              <a:rPr lang="ru-RU" sz="6000" b="1" dirty="0" smtClean="0"/>
              <a:t>Интерактивное </a:t>
            </a:r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ru-RU" sz="6000" b="1" dirty="0" smtClean="0"/>
              <a:t>Программное </a:t>
            </a:r>
            <a:endParaRPr lang="ru-RU" sz="6000" b="1" dirty="0"/>
          </a:p>
          <a:p>
            <a:pPr algn="ctr"/>
            <a:r>
              <a:rPr lang="ru-RU" sz="6000" b="1" dirty="0"/>
              <a:t>О</a:t>
            </a:r>
            <a:r>
              <a:rPr lang="ru-RU" sz="6000" b="1" dirty="0" smtClean="0"/>
              <a:t>беспечение</a:t>
            </a:r>
            <a:endParaRPr lang="uk-UA" sz="6000" b="1" dirty="0"/>
          </a:p>
        </p:txBody>
      </p:sp>
    </p:spTree>
    <p:extLst>
      <p:ext uri="{BB962C8B-B14F-4D97-AF65-F5344CB8AC3E}">
        <p14:creationId xmlns:p14="http://schemas.microsoft.com/office/powerpoint/2010/main" val="3415886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s://i.pinimg.com/originals/4a/e6/ce/4ae6ce356cdd6505e55261fde9f2a51c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" t="3404" r="2500" b="3538"/>
          <a:stretch/>
        </p:blipFill>
        <p:spPr bwMode="auto">
          <a:xfrm>
            <a:off x="-96687" y="10515"/>
            <a:ext cx="9001000" cy="68474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9264352" y="2156984"/>
            <a:ext cx="271162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err="1" smtClean="0">
                <a:solidFill>
                  <a:schemeClr val="accent6">
                    <a:lumMod val="75000"/>
                  </a:schemeClr>
                </a:solidFill>
              </a:rPr>
              <a:t>Скевоморфизм</a:t>
            </a:r>
            <a:r>
              <a:rPr lang="ru-RU" sz="2000" dirty="0" smtClean="0"/>
              <a:t> - орнамент или элемент дизайна, который скопирован с формы другого объекта, но изготовлен из других материалов или иным методом. </a:t>
            </a:r>
            <a:r>
              <a:rPr lang="ru-RU" sz="2000" b="1" dirty="0" smtClean="0">
                <a:solidFill>
                  <a:srgbClr val="0070C0"/>
                </a:solidFill>
              </a:rPr>
              <a:t>/Википедия</a:t>
            </a:r>
            <a:r>
              <a:rPr lang="ru-RU" sz="2000" b="1" dirty="0" smtClean="0"/>
              <a:t>.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3252437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Номер слайда 36"/>
          <p:cNvSpPr txBox="1">
            <a:spLocks/>
          </p:cNvSpPr>
          <p:nvPr/>
        </p:nvSpPr>
        <p:spPr>
          <a:xfrm>
            <a:off x="11136560" y="6157257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5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050" name="Picture 2" descr="https://img00.deviantart.net/0339/i/2012/182/c/c/ios_smooth_gui_psd__inspired_by_ios_6__by_theintenseplayer-d55mu7w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4" t="4417" r="58856" b="3704"/>
          <a:stretch/>
        </p:blipFill>
        <p:spPr bwMode="auto">
          <a:xfrm>
            <a:off x="0" y="0"/>
            <a:ext cx="6172807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48128" y="620688"/>
            <a:ext cx="4123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Элементы интерфейса первых версий </a:t>
            </a:r>
            <a:r>
              <a:rPr lang="en-US" sz="2400" b="1" dirty="0"/>
              <a:t>iOS.</a:t>
            </a:r>
            <a:endParaRPr lang="uk-UA" sz="24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248128" y="2060848"/>
            <a:ext cx="307166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err="1" smtClean="0">
                <a:solidFill>
                  <a:schemeClr val="accent6">
                    <a:lumMod val="75000"/>
                  </a:schemeClr>
                </a:solidFill>
              </a:rPr>
              <a:t>Скевоморфизм</a:t>
            </a:r>
            <a:r>
              <a:rPr lang="ru-RU" sz="2400" dirty="0" smtClean="0"/>
              <a:t> - орнамент или элемент дизайна, который скопирован с формы другого объекта, но изготовлен из других материалов или иным методом. </a:t>
            </a:r>
            <a:r>
              <a:rPr lang="ru-RU" sz="2400" b="1" dirty="0" smtClean="0">
                <a:solidFill>
                  <a:srgbClr val="0070C0"/>
                </a:solidFill>
              </a:rPr>
              <a:t>/Википедия</a:t>
            </a:r>
            <a:r>
              <a:rPr lang="ru-RU" sz="2400" b="1" dirty="0" smtClean="0"/>
              <a:t>.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1603379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6"/>
          <p:cNvSpPr txBox="1">
            <a:spLocks/>
          </p:cNvSpPr>
          <p:nvPr/>
        </p:nvSpPr>
        <p:spPr>
          <a:xfrm>
            <a:off x="11064552" y="6178660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6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054" name="Picture 6" descr="http://idesignstudio.net/wp-content/uploads/2015/04/07_Car_Branding_Mockup_02-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0710" y="1725256"/>
            <a:ext cx="3429393" cy="2278986"/>
          </a:xfrm>
          <a:prstGeom prst="rect">
            <a:avLst/>
          </a:prstGeom>
          <a:ln>
            <a:solidFill>
              <a:srgbClr val="00B0F0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56" name="Picture 8" descr="https://privatbank.ua/img/bankomat.jpg"/>
          <p:cNvPicPr>
            <a:picLocks noChangeAspect="1" noChangeArrowheads="1"/>
          </p:cNvPicPr>
          <p:nvPr/>
        </p:nvPicPr>
        <p:blipFill>
          <a:blip r:embed="rId3" cstate="print"/>
          <a:srcRect b="5249"/>
          <a:stretch>
            <a:fillRect/>
          </a:stretch>
        </p:blipFill>
        <p:spPr bwMode="auto">
          <a:xfrm>
            <a:off x="8470570" y="1737323"/>
            <a:ext cx="1827804" cy="2267741"/>
          </a:xfrm>
          <a:prstGeom prst="rect">
            <a:avLst/>
          </a:prstGeom>
          <a:ln>
            <a:solidFill>
              <a:srgbClr val="00B0F0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1" y="465313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i="1" dirty="0"/>
              <a:t>Событийная модель управления</a:t>
            </a:r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-1" y="476672"/>
            <a:ext cx="12192001" cy="7469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ru-RU" sz="3200" b="1" dirty="0">
                <a:latin typeface="+mj-lt"/>
                <a:ea typeface="+mj-ea"/>
                <a:cs typeface="+mj-cs"/>
              </a:rPr>
              <a:t>Интерактивное программное обеспечение</a:t>
            </a:r>
            <a:endParaRPr lang="uk-UA" sz="3200" b="1" dirty="0">
              <a:latin typeface="+mj-lt"/>
              <a:ea typeface="+mj-ea"/>
              <a:cs typeface="+mj-cs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-1" y="5589240"/>
            <a:ext cx="1219200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2000" b="1" dirty="0">
                <a:hlinkClick r:id="rId4"/>
              </a:rPr>
              <a:t>https://ru.wikipedia.org/wiki/Событийно-ориентированное_программирование</a:t>
            </a:r>
            <a:endParaRPr lang="uk-UA" sz="2000" b="1" dirty="0"/>
          </a:p>
        </p:txBody>
      </p:sp>
      <p:pic>
        <p:nvPicPr>
          <p:cNvPr id="1026" name="Picture 2" descr="Mythos Duo Bean To Cup Fully Automatic Coffee Machin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192" y="1726033"/>
            <a:ext cx="2278209" cy="2278209"/>
          </a:xfrm>
          <a:prstGeom prst="rect">
            <a:avLst/>
          </a:prstGeom>
          <a:ln>
            <a:solidFill>
              <a:srgbClr val="00B0F0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3050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0" y="233772"/>
            <a:ext cx="12192000" cy="7469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ru-RU" sz="3200" b="1" dirty="0">
                <a:latin typeface="+mj-lt"/>
                <a:ea typeface="+mj-ea"/>
                <a:cs typeface="+mj-cs"/>
              </a:rPr>
              <a:t>Интерактивное программное обеспечение</a:t>
            </a:r>
            <a:endParaRPr lang="uk-UA" sz="3200" b="1" dirty="0">
              <a:latin typeface="+mj-lt"/>
              <a:ea typeface="+mj-ea"/>
              <a:cs typeface="+mj-cs"/>
            </a:endParaRPr>
          </a:p>
        </p:txBody>
      </p:sp>
      <p:sp>
        <p:nvSpPr>
          <p:cNvPr id="10" name="Номер слайда 36"/>
          <p:cNvSpPr txBox="1">
            <a:spLocks/>
          </p:cNvSpPr>
          <p:nvPr/>
        </p:nvSpPr>
        <p:spPr>
          <a:xfrm>
            <a:off x="11208568" y="6181728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7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26" name="Picture 2" descr="Ð ÐµÐ·ÑÐ»ÑÑÐ°Ñ Ð¿Ð¾ÑÑÐºÑ Ð·Ð¾Ð±ÑÐ°Ð¶ÐµÐ½Ñ Ð·Ð° Ð·Ð°Ð¿Ð¸ÑÐ¾Ð¼ &quot;calculator app&quo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123" y="1199322"/>
            <a:ext cx="2554677" cy="4543918"/>
          </a:xfrm>
          <a:prstGeom prst="rect">
            <a:avLst/>
          </a:prstGeom>
          <a:ln w="19050">
            <a:solidFill>
              <a:schemeClr val="bg1">
                <a:lumMod val="8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004" y="1261348"/>
            <a:ext cx="2751096" cy="4481892"/>
          </a:xfrm>
          <a:prstGeom prst="rect">
            <a:avLst/>
          </a:prstGeom>
          <a:ln w="19050">
            <a:solidFill>
              <a:schemeClr val="bg1">
                <a:lumMod val="8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8" name="Picture 4" descr="Ð ÐµÐ·ÑÐ»ÑÑÐ°Ñ Ð¿Ð¾ÑÑÐºÑ Ð·Ð¾Ð±ÑÐ°Ð¶ÐµÐ½Ñ Ð·Ð° Ð·Ð°Ð¿Ð¸ÑÐ¾Ð¼ &quot;telegram app ios&quot;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3303" y="1261348"/>
            <a:ext cx="2565225" cy="4481892"/>
          </a:xfrm>
          <a:prstGeom prst="rect">
            <a:avLst/>
          </a:prstGeom>
          <a:ln w="19050">
            <a:solidFill>
              <a:schemeClr val="bg1">
                <a:lumMod val="8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0" y="6240878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b="1" dirty="0">
                <a:hlinkClick r:id="rId5"/>
              </a:rPr>
              <a:t>https://ru.wikipedia.org/wiki/Интерактивность</a:t>
            </a:r>
            <a:endParaRPr lang="uk-UA" b="1" dirty="0"/>
          </a:p>
        </p:txBody>
      </p:sp>
    </p:spTree>
    <p:extLst>
      <p:ext uri="{BB962C8B-B14F-4D97-AF65-F5344CB8AC3E}">
        <p14:creationId xmlns:p14="http://schemas.microsoft.com/office/powerpoint/2010/main" val="4028321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b="1" dirty="0" smtClean="0"/>
              <a:t>2. Интерактивное </a:t>
            </a:r>
            <a:r>
              <a:rPr lang="ru-RU" sz="6000" b="1" dirty="0"/>
              <a:t>программное </a:t>
            </a:r>
          </a:p>
          <a:p>
            <a:pPr algn="ctr"/>
            <a:r>
              <a:rPr lang="ru-RU" sz="6000" b="1" dirty="0"/>
              <a:t>обеспечение </a:t>
            </a:r>
          </a:p>
          <a:p>
            <a:pPr algn="ctr"/>
            <a:r>
              <a:rPr lang="ru-RU" sz="6000" b="1" dirty="0">
                <a:solidFill>
                  <a:srgbClr val="FFFF00"/>
                </a:solidFill>
              </a:rPr>
              <a:t>…в браузере…</a:t>
            </a:r>
            <a:endParaRPr lang="uk-UA" sz="6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641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0" y="0"/>
            <a:ext cx="12192000" cy="10527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5400" b="1" dirty="0">
                <a:latin typeface="+mj-lt"/>
                <a:ea typeface="+mj-ea"/>
                <a:cs typeface="+mj-cs"/>
              </a:rPr>
              <a:t>HTML</a:t>
            </a:r>
            <a:r>
              <a:rPr lang="ru-RU" sz="5400" b="1" dirty="0">
                <a:latin typeface="+mj-lt"/>
                <a:ea typeface="+mj-ea"/>
                <a:cs typeface="+mj-cs"/>
              </a:rPr>
              <a:t> статичен</a:t>
            </a:r>
            <a:endParaRPr lang="uk-UA" sz="5400" b="1" dirty="0">
              <a:latin typeface="+mj-lt"/>
              <a:ea typeface="+mj-ea"/>
              <a:cs typeface="+mj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0886" y="4293096"/>
            <a:ext cx="1021350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После того как страница загрузиться в браузер она остаётся неизменной, информация на ней не изменяется. Чтобы получить другую информацию, нужно загрузить другую страницу. Однако пользователи (поработав </a:t>
            </a:r>
            <a:r>
              <a:rPr lang="ru-RU" sz="2400" dirty="0" smtClean="0"/>
              <a:t>с </a:t>
            </a:r>
            <a:r>
              <a:rPr lang="ru-RU" sz="2400" i="1" dirty="0" smtClean="0"/>
              <a:t>настольным программным обеспечением</a:t>
            </a:r>
            <a:r>
              <a:rPr lang="ru-RU" sz="2400" dirty="0" smtClean="0"/>
              <a:t>) </a:t>
            </a:r>
            <a:r>
              <a:rPr lang="ru-RU" sz="2400" dirty="0"/>
              <a:t>привыкли к какой-никакой но </a:t>
            </a:r>
            <a:r>
              <a:rPr lang="ru-RU" sz="2400" b="1" dirty="0"/>
              <a:t>интерактивности</a:t>
            </a:r>
            <a:r>
              <a:rPr lang="ru-RU" sz="2400" dirty="0" smtClean="0"/>
              <a:t>.</a:t>
            </a:r>
            <a:endParaRPr lang="uk-UA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0886" y="1772816"/>
            <a:ext cx="2520753" cy="21602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7261" y="1772816"/>
            <a:ext cx="2520753" cy="21602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653636" y="1767592"/>
            <a:ext cx="2520752" cy="21602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0" name="Стрелка вправо 19"/>
          <p:cNvSpPr/>
          <p:nvPr/>
        </p:nvSpPr>
        <p:spPr>
          <a:xfrm>
            <a:off x="3820414" y="2564904"/>
            <a:ext cx="648072" cy="504056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1" name="Стрелка вправо 20"/>
          <p:cNvSpPr/>
          <p:nvPr/>
        </p:nvSpPr>
        <p:spPr>
          <a:xfrm>
            <a:off x="7666789" y="2564904"/>
            <a:ext cx="648072" cy="504056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2" name="TextBox 21"/>
          <p:cNvSpPr txBox="1"/>
          <p:nvPr/>
        </p:nvSpPr>
        <p:spPr>
          <a:xfrm>
            <a:off x="0" y="102311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/>
              <a:t>Что неудивительно, ведь </a:t>
            </a:r>
            <a:r>
              <a:rPr lang="en-US" sz="2400" b="1" dirty="0" smtClean="0"/>
              <a:t>HTML</a:t>
            </a:r>
            <a:r>
              <a:rPr lang="en-US" sz="2400" dirty="0" smtClean="0"/>
              <a:t> (</a:t>
            </a:r>
            <a:r>
              <a:rPr lang="ru-RU" sz="2400" dirty="0" smtClean="0"/>
              <a:t>и </a:t>
            </a:r>
            <a:r>
              <a:rPr lang="en-US" sz="2400" b="1" dirty="0" smtClean="0"/>
              <a:t>CSS</a:t>
            </a:r>
            <a:r>
              <a:rPr lang="en-US" sz="2400" dirty="0" smtClean="0"/>
              <a:t>) </a:t>
            </a:r>
            <a:r>
              <a:rPr lang="ru-RU" sz="2400" dirty="0" smtClean="0"/>
              <a:t>не является языком программирования.</a:t>
            </a:r>
            <a:endParaRPr lang="uk-UA" sz="2400" dirty="0"/>
          </a:p>
        </p:txBody>
      </p:sp>
      <p:sp>
        <p:nvSpPr>
          <p:cNvPr id="10" name="Номер слайда 36"/>
          <p:cNvSpPr txBox="1">
            <a:spLocks/>
          </p:cNvSpPr>
          <p:nvPr/>
        </p:nvSpPr>
        <p:spPr>
          <a:xfrm>
            <a:off x="11136560" y="6165304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9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4889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0" y="1484784"/>
            <a:ext cx="12192000" cy="7469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000" b="1" dirty="0">
                <a:latin typeface="+mj-lt"/>
                <a:ea typeface="+mj-ea"/>
                <a:cs typeface="+mj-cs"/>
              </a:rPr>
              <a:t>HTML/CSS – </a:t>
            </a:r>
            <a:r>
              <a:rPr lang="ru-RU" sz="4000" b="1" dirty="0">
                <a:latin typeface="+mj-lt"/>
                <a:ea typeface="+mj-ea"/>
                <a:cs typeface="+mj-cs"/>
              </a:rPr>
              <a:t>декларативные языки</a:t>
            </a:r>
            <a:endParaRPr lang="uk-UA" sz="4000" b="1" dirty="0">
              <a:latin typeface="+mj-lt"/>
              <a:ea typeface="+mj-ea"/>
              <a:cs typeface="+mj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15480" y="2622391"/>
            <a:ext cx="936104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Декларативные</a:t>
            </a:r>
            <a:r>
              <a:rPr lang="ru-RU" sz="2800" dirty="0"/>
              <a:t> языки при помощи директив позволяют указать какой результат мы хотим получить, но не путь его достижения (путь его достижения определяет компьютер). Побочный эффект: всё что не предусмотрено имеющимися директивами – реализовать не получится.</a:t>
            </a:r>
            <a:endParaRPr lang="uk-UA" sz="2800" dirty="0"/>
          </a:p>
        </p:txBody>
      </p:sp>
      <p:sp>
        <p:nvSpPr>
          <p:cNvPr id="10" name="Номер слайда 36"/>
          <p:cNvSpPr txBox="1">
            <a:spLocks/>
          </p:cNvSpPr>
          <p:nvPr/>
        </p:nvSpPr>
        <p:spPr>
          <a:xfrm>
            <a:off x="10920536" y="6021288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10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7707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0" y="764704"/>
            <a:ext cx="12192000" cy="7469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5400" b="1" dirty="0">
                <a:latin typeface="+mj-lt"/>
                <a:ea typeface="+mj-ea"/>
                <a:cs typeface="+mj-cs"/>
              </a:rPr>
              <a:t>JavaScript – </a:t>
            </a:r>
            <a:r>
              <a:rPr lang="ru-RU" sz="5400" b="1" dirty="0">
                <a:latin typeface="+mj-lt"/>
                <a:ea typeface="+mj-ea"/>
                <a:cs typeface="+mj-cs"/>
              </a:rPr>
              <a:t>императивный язык</a:t>
            </a:r>
            <a:endParaRPr lang="uk-UA" sz="5400" b="1" dirty="0">
              <a:latin typeface="+mj-lt"/>
              <a:ea typeface="+mj-ea"/>
              <a:cs typeface="+mj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83532" y="2017589"/>
            <a:ext cx="85689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Императивные</a:t>
            </a:r>
            <a:r>
              <a:rPr lang="ru-RU" sz="2400" dirty="0"/>
              <a:t> языки (как правило языки программирования относятся к этой категории) – языки состоящие из инструкций (малых действий, «шагов») выполняемых в определённой последовательности. Тем самым код на императивном языке описывает путь достижения желаемого результата. </a:t>
            </a:r>
            <a:endParaRPr lang="uk-UA" sz="2400" dirty="0"/>
          </a:p>
        </p:txBody>
      </p:sp>
      <p:sp>
        <p:nvSpPr>
          <p:cNvPr id="10" name="Номер слайда 36"/>
          <p:cNvSpPr txBox="1">
            <a:spLocks/>
          </p:cNvSpPr>
          <p:nvPr/>
        </p:nvSpPr>
        <p:spPr>
          <a:xfrm>
            <a:off x="10992544" y="5949280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11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83532" y="4581128"/>
            <a:ext cx="8316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Отличительная черта императивных языков</a:t>
            </a:r>
            <a:r>
              <a:rPr lang="ru-RU" sz="2400" dirty="0"/>
              <a:t>: работа (обработка) данных, описание логики (ветвления) работы программы.</a:t>
            </a: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3742549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 noGrp="1"/>
          </p:cNvSpPr>
          <p:nvPr>
            <p:ph type="title"/>
          </p:nvPr>
        </p:nvSpPr>
        <p:spPr>
          <a:xfrm>
            <a:off x="0" y="211869"/>
            <a:ext cx="12191999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 b="1" dirty="0"/>
              <a:t>Задачи </a:t>
            </a:r>
            <a:r>
              <a:rPr lang="en-US" b="1" dirty="0"/>
              <a:t>JavaScript?</a:t>
            </a:r>
            <a:endParaRPr lang="uk-UA" b="1" dirty="0"/>
          </a:p>
        </p:txBody>
      </p:sp>
      <p:sp>
        <p:nvSpPr>
          <p:cNvPr id="8" name="Номер слайда 36"/>
          <p:cNvSpPr txBox="1">
            <a:spLocks/>
          </p:cNvSpPr>
          <p:nvPr/>
        </p:nvSpPr>
        <p:spPr>
          <a:xfrm>
            <a:off x="11064552" y="6021366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12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0" name="Группа 9"/>
          <p:cNvGrpSpPr/>
          <p:nvPr/>
        </p:nvGrpSpPr>
        <p:grpSpPr>
          <a:xfrm>
            <a:off x="2128301" y="1340768"/>
            <a:ext cx="3751675" cy="2232248"/>
            <a:chOff x="1949262" y="1340768"/>
            <a:chExt cx="3751675" cy="2232248"/>
          </a:xfrm>
        </p:grpSpPr>
        <p:pic>
          <p:nvPicPr>
            <p:cNvPr id="1026" name="Picture 2" descr="https://fthmb.tqn.com/hV6AQcHwajss0O2_0afcfrM7iF4=/400x0/about-blank-58824fe55f9b58bdb3b27e21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49262" y="1340768"/>
              <a:ext cx="3751675" cy="2232248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Прямоугольник 2"/>
            <p:cNvSpPr/>
            <p:nvPr/>
          </p:nvSpPr>
          <p:spPr>
            <a:xfrm>
              <a:off x="2130837" y="1979838"/>
              <a:ext cx="864096" cy="7200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176510" y="1979839"/>
              <a:ext cx="215661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800" dirty="0" err="1"/>
                <a:t>Donec</a:t>
              </a:r>
              <a:r>
                <a:rPr lang="en-US" sz="800" dirty="0"/>
                <a:t> </a:t>
              </a:r>
              <a:r>
                <a:rPr lang="en-US" sz="800" dirty="0" err="1"/>
                <a:t>auctor</a:t>
              </a:r>
              <a:r>
                <a:rPr lang="en-US" sz="800" dirty="0"/>
                <a:t> ipsum </a:t>
              </a:r>
              <a:r>
                <a:rPr lang="en-US" sz="800" dirty="0" err="1"/>
                <a:t>elit</a:t>
              </a:r>
              <a:r>
                <a:rPr lang="en-US" sz="800" dirty="0"/>
                <a:t>, </a:t>
              </a:r>
              <a:r>
                <a:rPr lang="en-US" sz="800" dirty="0" err="1"/>
                <a:t>sed</a:t>
              </a:r>
              <a:r>
                <a:rPr lang="en-US" sz="800" dirty="0"/>
                <a:t> </a:t>
              </a:r>
              <a:r>
                <a:rPr lang="en-US" sz="800" dirty="0" err="1"/>
                <a:t>suscipit</a:t>
              </a:r>
              <a:r>
                <a:rPr lang="en-US" sz="800" dirty="0"/>
                <a:t> </a:t>
              </a:r>
              <a:r>
                <a:rPr lang="en-US" sz="800" dirty="0" err="1"/>
                <a:t>turpis</a:t>
              </a:r>
              <a:r>
                <a:rPr lang="en-US" sz="800" dirty="0"/>
                <a:t> </a:t>
              </a:r>
              <a:r>
                <a:rPr lang="en-US" sz="800" dirty="0" err="1"/>
                <a:t>molestie</a:t>
              </a:r>
              <a:r>
                <a:rPr lang="en-US" sz="800" dirty="0"/>
                <a:t> </a:t>
              </a:r>
              <a:r>
                <a:rPr lang="en-US" sz="800" dirty="0" err="1"/>
                <a:t>sagittis</a:t>
              </a:r>
              <a:r>
                <a:rPr lang="en-US" sz="800" dirty="0"/>
                <a:t>. </a:t>
              </a:r>
              <a:r>
                <a:rPr lang="en-US" sz="800" dirty="0" err="1"/>
                <a:t>Ut</a:t>
              </a:r>
              <a:r>
                <a:rPr lang="en-US" sz="800" dirty="0"/>
                <a:t> a </a:t>
              </a:r>
              <a:r>
                <a:rPr lang="en-US" sz="800" dirty="0" err="1"/>
                <a:t>sagittis</a:t>
              </a:r>
              <a:r>
                <a:rPr lang="en-US" sz="800" dirty="0"/>
                <a:t> </a:t>
              </a:r>
              <a:r>
                <a:rPr lang="en-US" sz="800" dirty="0" err="1"/>
                <a:t>orci</a:t>
              </a:r>
              <a:r>
                <a:rPr lang="en-US" sz="800" dirty="0"/>
                <a:t>. </a:t>
              </a:r>
              <a:r>
                <a:rPr lang="en-US" sz="800" dirty="0" err="1"/>
                <a:t>Suspendisse</a:t>
              </a:r>
              <a:r>
                <a:rPr lang="en-US" sz="800" dirty="0"/>
                <a:t> </a:t>
              </a:r>
              <a:r>
                <a:rPr lang="en-US" sz="800" dirty="0" err="1"/>
                <a:t>luctus</a:t>
              </a:r>
              <a:r>
                <a:rPr lang="en-US" sz="800" dirty="0"/>
                <a:t> </a:t>
              </a:r>
              <a:r>
                <a:rPr lang="en-US" sz="800" dirty="0" err="1"/>
                <a:t>nisl</a:t>
              </a:r>
              <a:r>
                <a:rPr lang="en-US" sz="800" dirty="0"/>
                <a:t> </a:t>
              </a:r>
              <a:r>
                <a:rPr lang="en-US" sz="800" dirty="0" err="1"/>
                <a:t>ut</a:t>
              </a:r>
              <a:r>
                <a:rPr lang="en-US" sz="800" dirty="0"/>
                <a:t> </a:t>
              </a:r>
              <a:r>
                <a:rPr lang="en-US" sz="800" dirty="0" err="1"/>
                <a:t>posuere</a:t>
              </a:r>
              <a:r>
                <a:rPr lang="en-US" sz="800" dirty="0"/>
                <a:t> </a:t>
              </a:r>
              <a:r>
                <a:rPr lang="en-US" sz="800" dirty="0" err="1"/>
                <a:t>congue</a:t>
              </a:r>
              <a:r>
                <a:rPr lang="en-US" sz="800" dirty="0"/>
                <a:t>. Nam </a:t>
              </a:r>
              <a:r>
                <a:rPr lang="en-US" sz="800" dirty="0" err="1"/>
                <a:t>rutrum</a:t>
              </a:r>
              <a:r>
                <a:rPr lang="en-US" sz="800" dirty="0"/>
                <a:t> vitae </a:t>
              </a:r>
              <a:r>
                <a:rPr lang="en-US" sz="800" dirty="0" err="1"/>
                <a:t>orci</a:t>
              </a:r>
              <a:r>
                <a:rPr lang="en-US" sz="800" dirty="0"/>
                <a:t> </a:t>
              </a:r>
              <a:r>
                <a:rPr lang="en-US" sz="800" dirty="0" err="1"/>
                <a:t>eget</a:t>
              </a:r>
              <a:r>
                <a:rPr lang="en-US" sz="800" dirty="0"/>
                <a:t> </a:t>
              </a:r>
              <a:r>
                <a:rPr lang="en-US" sz="800" dirty="0" err="1"/>
                <a:t>iaculis</a:t>
              </a:r>
              <a:r>
                <a:rPr lang="en-US" sz="800" dirty="0"/>
                <a:t>. </a:t>
              </a:r>
              <a:r>
                <a:rPr lang="en-US" sz="800" dirty="0" err="1"/>
                <a:t>Praesent</a:t>
              </a:r>
              <a:r>
                <a:rPr lang="en-US" sz="800" dirty="0"/>
                <a:t> quam </a:t>
              </a:r>
              <a:r>
                <a:rPr lang="en-US" sz="800" dirty="0" err="1"/>
                <a:t>massa</a:t>
              </a:r>
              <a:r>
                <a:rPr lang="en-US" sz="800" dirty="0"/>
                <a:t>, </a:t>
              </a:r>
              <a:r>
                <a:rPr lang="en-US" sz="800" dirty="0" err="1"/>
                <a:t>volutpat</a:t>
              </a:r>
              <a:r>
                <a:rPr lang="en-US" sz="800" dirty="0"/>
                <a:t> in ante id, </a:t>
              </a:r>
              <a:r>
                <a:rPr lang="en-US" sz="800" dirty="0" err="1"/>
                <a:t>posuere</a:t>
              </a:r>
              <a:r>
                <a:rPr lang="en-US" sz="800" dirty="0"/>
                <a:t> </a:t>
              </a:r>
              <a:r>
                <a:rPr lang="en-US" sz="800" dirty="0" err="1"/>
                <a:t>tincidunt</a:t>
              </a:r>
              <a:r>
                <a:rPr lang="en-US" sz="800" dirty="0"/>
                <a:t> </a:t>
              </a:r>
              <a:r>
                <a:rPr lang="en-US" sz="800" dirty="0" err="1"/>
                <a:t>neque</a:t>
              </a:r>
              <a:r>
                <a:rPr lang="en-US" sz="800" dirty="0"/>
                <a:t>. </a:t>
              </a:r>
              <a:r>
                <a:rPr lang="en-US" sz="800" dirty="0" err="1"/>
                <a:t>Morbi</a:t>
              </a:r>
              <a:r>
                <a:rPr lang="en-US" sz="800" dirty="0"/>
                <a:t> in </a:t>
              </a:r>
              <a:r>
                <a:rPr lang="en-US" sz="800" dirty="0" err="1"/>
                <a:t>arcu</a:t>
              </a:r>
              <a:r>
                <a:rPr lang="en-US" sz="800" dirty="0"/>
                <a:t> </a:t>
              </a:r>
              <a:r>
                <a:rPr lang="en-US" sz="800" dirty="0" err="1"/>
                <a:t>sagittis</a:t>
              </a:r>
              <a:r>
                <a:rPr lang="en-US" sz="800" dirty="0"/>
                <a:t>, </a:t>
              </a:r>
              <a:r>
                <a:rPr lang="en-US" sz="800" dirty="0" err="1"/>
                <a:t>eleifend</a:t>
              </a:r>
              <a:r>
                <a:rPr lang="en-US" sz="800" dirty="0"/>
                <a:t> libero </a:t>
              </a:r>
              <a:r>
                <a:rPr lang="en-US" sz="800" dirty="0" err="1"/>
                <a:t>eu</a:t>
              </a:r>
              <a:r>
                <a:rPr lang="en-US" sz="800" dirty="0"/>
                <a:t>, </a:t>
              </a:r>
              <a:r>
                <a:rPr lang="en-US" sz="800" dirty="0" err="1"/>
                <a:t>sollicitudin</a:t>
              </a:r>
              <a:r>
                <a:rPr lang="en-US" sz="800" dirty="0"/>
                <a:t> </a:t>
              </a:r>
              <a:r>
                <a:rPr lang="en-US" sz="800" dirty="0" err="1"/>
                <a:t>urna</a:t>
              </a:r>
              <a:r>
                <a:rPr lang="en-US" sz="800" dirty="0"/>
                <a:t>. </a:t>
              </a:r>
              <a:r>
                <a:rPr lang="en-US" sz="800" dirty="0" err="1"/>
                <a:t>Vestibulum</a:t>
              </a:r>
              <a:r>
                <a:rPr lang="en-US" sz="800" dirty="0"/>
                <a:t> non </a:t>
              </a:r>
              <a:r>
                <a:rPr lang="en-US" sz="800" dirty="0" err="1"/>
                <a:t>erat</a:t>
              </a:r>
              <a:r>
                <a:rPr lang="en-US" sz="800" dirty="0"/>
                <a:t> </a:t>
              </a:r>
              <a:r>
                <a:rPr lang="en-US" sz="800" dirty="0" err="1"/>
                <a:t>erat</a:t>
              </a:r>
              <a:r>
                <a:rPr lang="en-US" sz="800" dirty="0"/>
                <a:t>. </a:t>
              </a:r>
              <a:endParaRPr lang="ru-RU" sz="800" dirty="0"/>
            </a:p>
          </p:txBody>
        </p:sp>
      </p:grpSp>
      <p:grpSp>
        <p:nvGrpSpPr>
          <p:cNvPr id="2" name="Группа 1"/>
          <p:cNvGrpSpPr/>
          <p:nvPr/>
        </p:nvGrpSpPr>
        <p:grpSpPr>
          <a:xfrm>
            <a:off x="2128300" y="4077072"/>
            <a:ext cx="3751675" cy="2232248"/>
            <a:chOff x="6517441" y="3763357"/>
            <a:chExt cx="3751675" cy="2232248"/>
          </a:xfrm>
        </p:grpSpPr>
        <p:pic>
          <p:nvPicPr>
            <p:cNvPr id="12" name="Picture 2" descr="https://fthmb.tqn.com/hV6AQcHwajss0O2_0afcfrM7iF4=/400x0/about-blank-58824fe55f9b58bdb3b27e21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7441" y="3763357"/>
              <a:ext cx="3751675" cy="2232248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Прямоугольник 12"/>
            <p:cNvSpPr/>
            <p:nvPr/>
          </p:nvSpPr>
          <p:spPr>
            <a:xfrm>
              <a:off x="6699016" y="4402428"/>
              <a:ext cx="981160" cy="32271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744689" y="4402428"/>
              <a:ext cx="21566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800" dirty="0" err="1"/>
                <a:t>Donec</a:t>
              </a:r>
              <a:r>
                <a:rPr lang="en-US" sz="800" dirty="0"/>
                <a:t> </a:t>
              </a:r>
              <a:r>
                <a:rPr lang="en-US" sz="800" dirty="0" err="1"/>
                <a:t>auctor</a:t>
              </a:r>
              <a:r>
                <a:rPr lang="en-US" sz="800" dirty="0"/>
                <a:t> ipsum </a:t>
              </a:r>
              <a:r>
                <a:rPr lang="en-US" sz="800" dirty="0" err="1"/>
                <a:t>elit</a:t>
              </a:r>
              <a:r>
                <a:rPr lang="en-US" sz="800" dirty="0"/>
                <a:t>, </a:t>
              </a:r>
              <a:r>
                <a:rPr lang="en-US" sz="800" dirty="0" err="1"/>
                <a:t>sed</a:t>
              </a:r>
              <a:r>
                <a:rPr lang="en-US" sz="800" dirty="0"/>
                <a:t> </a:t>
              </a:r>
              <a:r>
                <a:rPr lang="en-US" sz="800" dirty="0" err="1"/>
                <a:t>suscipit</a:t>
              </a:r>
              <a:r>
                <a:rPr lang="en-US" sz="800" dirty="0"/>
                <a:t> </a:t>
              </a:r>
              <a:r>
                <a:rPr lang="en-US" sz="800" dirty="0" err="1"/>
                <a:t>turpis</a:t>
              </a:r>
              <a:r>
                <a:rPr lang="en-US" sz="800" dirty="0"/>
                <a:t> </a:t>
              </a:r>
              <a:r>
                <a:rPr lang="en-US" sz="800" dirty="0" err="1"/>
                <a:t>molestie</a:t>
              </a:r>
              <a:r>
                <a:rPr lang="en-US" sz="800" dirty="0"/>
                <a:t> </a:t>
              </a:r>
              <a:r>
                <a:rPr lang="en-US" sz="800" dirty="0" err="1"/>
                <a:t>sagittis</a:t>
              </a:r>
              <a:r>
                <a:rPr lang="en-US" sz="800" dirty="0"/>
                <a:t>. </a:t>
              </a:r>
              <a:r>
                <a:rPr lang="en-US" sz="800" dirty="0" err="1"/>
                <a:t>Ut</a:t>
              </a:r>
              <a:r>
                <a:rPr lang="en-US" sz="800" dirty="0"/>
                <a:t> a </a:t>
              </a:r>
              <a:r>
                <a:rPr lang="en-US" sz="800" dirty="0" err="1"/>
                <a:t>sagittis</a:t>
              </a:r>
              <a:r>
                <a:rPr lang="en-US" sz="800" dirty="0"/>
                <a:t> </a:t>
              </a:r>
              <a:r>
                <a:rPr lang="en-US" sz="800" dirty="0" err="1"/>
                <a:t>orci</a:t>
              </a:r>
              <a:r>
                <a:rPr lang="en-US" sz="800" dirty="0"/>
                <a:t>. </a:t>
              </a:r>
              <a:r>
                <a:rPr lang="en-US" sz="800" dirty="0" err="1"/>
                <a:t>Suspendisse</a:t>
              </a:r>
              <a:r>
                <a:rPr lang="en-US" sz="800" dirty="0"/>
                <a:t> </a:t>
              </a:r>
              <a:r>
                <a:rPr lang="en-US" sz="800" dirty="0" err="1"/>
                <a:t>luctus</a:t>
              </a:r>
              <a:r>
                <a:rPr lang="en-US" sz="800" dirty="0"/>
                <a:t> </a:t>
              </a:r>
              <a:r>
                <a:rPr lang="en-US" sz="800" dirty="0" err="1"/>
                <a:t>nisl</a:t>
              </a:r>
              <a:r>
                <a:rPr lang="en-US" sz="800" dirty="0"/>
                <a:t> </a:t>
              </a:r>
              <a:r>
                <a:rPr lang="en-US" sz="800" dirty="0" err="1"/>
                <a:t>ut</a:t>
              </a:r>
              <a:r>
                <a:rPr lang="en-US" sz="800" dirty="0"/>
                <a:t> </a:t>
              </a:r>
              <a:r>
                <a:rPr lang="en-US" sz="800" dirty="0" err="1"/>
                <a:t>posuere</a:t>
              </a:r>
              <a:r>
                <a:rPr lang="en-US" sz="800" dirty="0"/>
                <a:t> </a:t>
              </a:r>
              <a:r>
                <a:rPr lang="en-US" sz="800" dirty="0" err="1"/>
                <a:t>congue</a:t>
              </a:r>
              <a:r>
                <a:rPr lang="en-US" sz="800" dirty="0"/>
                <a:t>.  </a:t>
              </a:r>
              <a:endParaRPr lang="ru-RU" sz="800" dirty="0"/>
            </a:p>
          </p:txBody>
        </p:sp>
        <p:sp>
          <p:nvSpPr>
            <p:cNvPr id="15" name="Прямоугольник 14"/>
            <p:cNvSpPr/>
            <p:nvPr/>
          </p:nvSpPr>
          <p:spPr>
            <a:xfrm>
              <a:off x="6699016" y="4879481"/>
              <a:ext cx="981160" cy="32271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/>
            <p:cNvSpPr/>
            <p:nvPr/>
          </p:nvSpPr>
          <p:spPr>
            <a:xfrm>
              <a:off x="6699016" y="5364215"/>
              <a:ext cx="981160" cy="32271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744689" y="4879481"/>
              <a:ext cx="21566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800" dirty="0" err="1"/>
                <a:t>Donec</a:t>
              </a:r>
              <a:r>
                <a:rPr lang="en-US" sz="800" dirty="0"/>
                <a:t> </a:t>
              </a:r>
              <a:r>
                <a:rPr lang="en-US" sz="800" dirty="0" err="1"/>
                <a:t>auctor</a:t>
              </a:r>
              <a:r>
                <a:rPr lang="en-US" sz="800" dirty="0"/>
                <a:t> ipsum </a:t>
              </a:r>
              <a:r>
                <a:rPr lang="en-US" sz="800" dirty="0" err="1"/>
                <a:t>elit</a:t>
              </a:r>
              <a:r>
                <a:rPr lang="en-US" sz="800" dirty="0"/>
                <a:t>, </a:t>
              </a:r>
              <a:r>
                <a:rPr lang="en-US" sz="800" dirty="0" err="1"/>
                <a:t>sed</a:t>
              </a:r>
              <a:r>
                <a:rPr lang="en-US" sz="800" dirty="0"/>
                <a:t> </a:t>
              </a:r>
              <a:r>
                <a:rPr lang="en-US" sz="800" dirty="0" err="1"/>
                <a:t>suscipit</a:t>
              </a:r>
              <a:r>
                <a:rPr lang="en-US" sz="800" dirty="0"/>
                <a:t> </a:t>
              </a:r>
              <a:r>
                <a:rPr lang="en-US" sz="800" dirty="0" err="1"/>
                <a:t>turpis</a:t>
              </a:r>
              <a:r>
                <a:rPr lang="en-US" sz="800" dirty="0"/>
                <a:t> </a:t>
              </a:r>
              <a:r>
                <a:rPr lang="en-US" sz="800" dirty="0" err="1"/>
                <a:t>molestie</a:t>
              </a:r>
              <a:r>
                <a:rPr lang="en-US" sz="800" dirty="0"/>
                <a:t> </a:t>
              </a:r>
              <a:r>
                <a:rPr lang="en-US" sz="800" dirty="0" err="1"/>
                <a:t>sagittis</a:t>
              </a:r>
              <a:r>
                <a:rPr lang="en-US" sz="800" dirty="0"/>
                <a:t>. </a:t>
              </a:r>
              <a:r>
                <a:rPr lang="en-US" sz="800" dirty="0" err="1"/>
                <a:t>Ut</a:t>
              </a:r>
              <a:r>
                <a:rPr lang="en-US" sz="800" dirty="0"/>
                <a:t> a </a:t>
              </a:r>
              <a:r>
                <a:rPr lang="en-US" sz="800" dirty="0" err="1"/>
                <a:t>sagittis</a:t>
              </a:r>
              <a:r>
                <a:rPr lang="en-US" sz="800" dirty="0"/>
                <a:t> </a:t>
              </a:r>
              <a:r>
                <a:rPr lang="en-US" sz="800" dirty="0" err="1"/>
                <a:t>orci</a:t>
              </a:r>
              <a:r>
                <a:rPr lang="en-US" sz="800" dirty="0"/>
                <a:t>. </a:t>
              </a:r>
              <a:r>
                <a:rPr lang="en-US" sz="800" dirty="0" err="1"/>
                <a:t>Suspendisse</a:t>
              </a:r>
              <a:r>
                <a:rPr lang="en-US" sz="800" dirty="0"/>
                <a:t> </a:t>
              </a:r>
              <a:r>
                <a:rPr lang="en-US" sz="800" dirty="0" err="1"/>
                <a:t>luctus</a:t>
              </a:r>
              <a:r>
                <a:rPr lang="en-US" sz="800" dirty="0"/>
                <a:t> </a:t>
              </a:r>
              <a:r>
                <a:rPr lang="en-US" sz="800" dirty="0" err="1"/>
                <a:t>nisl</a:t>
              </a:r>
              <a:r>
                <a:rPr lang="en-US" sz="800" dirty="0"/>
                <a:t> </a:t>
              </a:r>
              <a:r>
                <a:rPr lang="en-US" sz="800" dirty="0" err="1"/>
                <a:t>ut</a:t>
              </a:r>
              <a:r>
                <a:rPr lang="en-US" sz="800" dirty="0"/>
                <a:t> </a:t>
              </a:r>
              <a:r>
                <a:rPr lang="en-US" sz="800" dirty="0" err="1"/>
                <a:t>posuere</a:t>
              </a:r>
              <a:r>
                <a:rPr lang="en-US" sz="800" dirty="0"/>
                <a:t> </a:t>
              </a:r>
              <a:r>
                <a:rPr lang="en-US" sz="800" dirty="0" err="1"/>
                <a:t>congue</a:t>
              </a:r>
              <a:r>
                <a:rPr lang="en-US" sz="800" dirty="0"/>
                <a:t>.  </a:t>
              </a:r>
              <a:endParaRPr lang="ru-RU" sz="800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744689" y="5341146"/>
              <a:ext cx="21566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800" dirty="0" err="1"/>
                <a:t>Donec</a:t>
              </a:r>
              <a:r>
                <a:rPr lang="en-US" sz="800" dirty="0"/>
                <a:t> </a:t>
              </a:r>
              <a:r>
                <a:rPr lang="en-US" sz="800" dirty="0" err="1"/>
                <a:t>auctor</a:t>
              </a:r>
              <a:r>
                <a:rPr lang="en-US" sz="800" dirty="0"/>
                <a:t> ipsum </a:t>
              </a:r>
              <a:r>
                <a:rPr lang="en-US" sz="800" dirty="0" err="1"/>
                <a:t>elit</a:t>
              </a:r>
              <a:r>
                <a:rPr lang="en-US" sz="800" dirty="0"/>
                <a:t>, </a:t>
              </a:r>
              <a:r>
                <a:rPr lang="en-US" sz="800" dirty="0" err="1"/>
                <a:t>sed</a:t>
              </a:r>
              <a:r>
                <a:rPr lang="en-US" sz="800" dirty="0"/>
                <a:t> </a:t>
              </a:r>
              <a:r>
                <a:rPr lang="en-US" sz="800" dirty="0" err="1"/>
                <a:t>suscipit</a:t>
              </a:r>
              <a:r>
                <a:rPr lang="en-US" sz="800" dirty="0"/>
                <a:t> </a:t>
              </a:r>
              <a:r>
                <a:rPr lang="en-US" sz="800" dirty="0" err="1"/>
                <a:t>turpis</a:t>
              </a:r>
              <a:r>
                <a:rPr lang="en-US" sz="800" dirty="0"/>
                <a:t> </a:t>
              </a:r>
              <a:r>
                <a:rPr lang="en-US" sz="800" dirty="0" err="1"/>
                <a:t>molestie</a:t>
              </a:r>
              <a:r>
                <a:rPr lang="en-US" sz="800" dirty="0"/>
                <a:t> </a:t>
              </a:r>
              <a:r>
                <a:rPr lang="en-US" sz="800" dirty="0" err="1"/>
                <a:t>sagittis</a:t>
              </a:r>
              <a:r>
                <a:rPr lang="en-US" sz="800" dirty="0"/>
                <a:t>. </a:t>
              </a:r>
              <a:r>
                <a:rPr lang="en-US" sz="800" dirty="0" err="1"/>
                <a:t>Ut</a:t>
              </a:r>
              <a:r>
                <a:rPr lang="en-US" sz="800" dirty="0"/>
                <a:t> a </a:t>
              </a:r>
              <a:r>
                <a:rPr lang="en-US" sz="800" dirty="0" err="1"/>
                <a:t>sagittis</a:t>
              </a:r>
              <a:r>
                <a:rPr lang="en-US" sz="800" dirty="0"/>
                <a:t> </a:t>
              </a:r>
              <a:r>
                <a:rPr lang="en-US" sz="800" dirty="0" err="1"/>
                <a:t>orci</a:t>
              </a:r>
              <a:r>
                <a:rPr lang="en-US" sz="800" dirty="0"/>
                <a:t>. </a:t>
              </a:r>
              <a:r>
                <a:rPr lang="en-US" sz="800" dirty="0" err="1"/>
                <a:t>Suspendisse</a:t>
              </a:r>
              <a:r>
                <a:rPr lang="en-US" sz="800" dirty="0"/>
                <a:t> </a:t>
              </a:r>
              <a:r>
                <a:rPr lang="en-US" sz="800" dirty="0" err="1"/>
                <a:t>luctus</a:t>
              </a:r>
              <a:r>
                <a:rPr lang="en-US" sz="800" dirty="0"/>
                <a:t> </a:t>
              </a:r>
              <a:r>
                <a:rPr lang="en-US" sz="800" dirty="0" err="1"/>
                <a:t>nisl</a:t>
              </a:r>
              <a:r>
                <a:rPr lang="en-US" sz="800" dirty="0"/>
                <a:t> </a:t>
              </a:r>
              <a:r>
                <a:rPr lang="en-US" sz="800" dirty="0" err="1"/>
                <a:t>ut</a:t>
              </a:r>
              <a:r>
                <a:rPr lang="en-US" sz="800" dirty="0"/>
                <a:t> </a:t>
              </a:r>
              <a:r>
                <a:rPr lang="en-US" sz="800" dirty="0" err="1"/>
                <a:t>posuere</a:t>
              </a:r>
              <a:r>
                <a:rPr lang="en-US" sz="800" dirty="0"/>
                <a:t> </a:t>
              </a:r>
              <a:r>
                <a:rPr lang="en-US" sz="800" dirty="0" err="1"/>
                <a:t>congue</a:t>
              </a:r>
              <a:r>
                <a:rPr lang="en-US" sz="800" dirty="0"/>
                <a:t>.  </a:t>
              </a:r>
              <a:endParaRPr lang="ru-RU" sz="800" dirty="0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6672064" y="2084653"/>
            <a:ext cx="349697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Изменение содержимого страницы (</a:t>
            </a:r>
            <a:r>
              <a:rPr lang="ru-RU" sz="2800" i="1" dirty="0"/>
              <a:t>в первую очередь </a:t>
            </a:r>
            <a:r>
              <a:rPr lang="ru-RU" sz="2800" b="1" i="1" dirty="0"/>
              <a:t>данных</a:t>
            </a:r>
            <a:r>
              <a:rPr lang="ru-RU" sz="2800" dirty="0" smtClean="0"/>
              <a:t>)</a:t>
            </a:r>
            <a:r>
              <a:rPr lang="en-US" sz="2800" dirty="0"/>
              <a:t>.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ru-RU" sz="2800" dirty="0" smtClean="0"/>
              <a:t>А </a:t>
            </a:r>
            <a:r>
              <a:rPr lang="ru-RU" sz="2800" dirty="0"/>
              <a:t>за содержимое страницы отвечает </a:t>
            </a:r>
            <a:r>
              <a:rPr lang="ru-RU" sz="2800" b="1" dirty="0"/>
              <a:t>разметка</a:t>
            </a:r>
            <a:r>
              <a:rPr lang="ru-RU" sz="2800" dirty="0" smtClean="0"/>
              <a:t>…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951154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 noGrp="1"/>
          </p:cNvSpPr>
          <p:nvPr>
            <p:ph type="title"/>
          </p:nvPr>
        </p:nvSpPr>
        <p:spPr>
          <a:xfrm>
            <a:off x="0" y="476672"/>
            <a:ext cx="12192000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 b="1" dirty="0"/>
              <a:t>Задачи </a:t>
            </a:r>
            <a:r>
              <a:rPr lang="en-US" b="1" dirty="0"/>
              <a:t>JavaScript</a:t>
            </a:r>
            <a:endParaRPr lang="uk-UA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1847146"/>
            <a:ext cx="121920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 algn="ctr">
              <a:spcBef>
                <a:spcPct val="0"/>
              </a:spcBef>
              <a:defRPr/>
            </a:pPr>
            <a:r>
              <a:rPr lang="ru-RU" sz="2600" b="1" dirty="0"/>
              <a:t>1. </a:t>
            </a:r>
            <a:r>
              <a:rPr lang="ru-RU" sz="2600" dirty="0"/>
              <a:t>Манипуляция элементами (тегами) </a:t>
            </a:r>
            <a:r>
              <a:rPr lang="en-US" sz="2600" dirty="0"/>
              <a:t>HTML</a:t>
            </a:r>
            <a:r>
              <a:rPr lang="ru-RU" sz="2600" dirty="0"/>
              <a:t>-страницы </a:t>
            </a:r>
          </a:p>
          <a:p>
            <a:pPr marL="742950" indent="-742950" algn="ctr">
              <a:spcBef>
                <a:spcPct val="0"/>
              </a:spcBef>
              <a:defRPr/>
            </a:pPr>
            <a:r>
              <a:rPr lang="ru-RU" sz="2400" i="1" dirty="0"/>
              <a:t>(когда страница уже в браузере посетителя); </a:t>
            </a:r>
            <a:endParaRPr lang="uk-UA" sz="3200" i="1" dirty="0"/>
          </a:p>
        </p:txBody>
      </p:sp>
      <p:sp>
        <p:nvSpPr>
          <p:cNvPr id="9" name="TextBox 8"/>
          <p:cNvSpPr txBox="1"/>
          <p:nvPr/>
        </p:nvSpPr>
        <p:spPr>
          <a:xfrm>
            <a:off x="2297820" y="2854678"/>
            <a:ext cx="7902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i="1" dirty="0"/>
              <a:t>А если конкретнее, то: </a:t>
            </a:r>
            <a:r>
              <a:rPr lang="ru-RU" b="1" i="1" dirty="0"/>
              <a:t>изменять разметку документа</a:t>
            </a:r>
            <a:r>
              <a:rPr lang="ru-RU" i="1" dirty="0"/>
              <a:t>. Ведь браузер «нарисует» только то что описано в разметке. </a:t>
            </a:r>
            <a:endParaRPr lang="uk-UA" i="1" dirty="0"/>
          </a:p>
        </p:txBody>
      </p:sp>
      <p:sp>
        <p:nvSpPr>
          <p:cNvPr id="8" name="Номер слайда 36"/>
          <p:cNvSpPr txBox="1">
            <a:spLocks/>
          </p:cNvSpPr>
          <p:nvPr/>
        </p:nvSpPr>
        <p:spPr>
          <a:xfrm>
            <a:off x="11208568" y="6165304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13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0" y="4437112"/>
            <a:ext cx="121920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 algn="ctr">
              <a:spcBef>
                <a:spcPct val="0"/>
              </a:spcBef>
              <a:defRPr/>
            </a:pPr>
            <a:r>
              <a:rPr lang="ru-RU" sz="2600" b="1" dirty="0"/>
              <a:t>2. </a:t>
            </a:r>
            <a:r>
              <a:rPr lang="ru-RU" sz="2600" dirty="0"/>
              <a:t>Делать что-то в ответ на действия пользователя</a:t>
            </a:r>
            <a:endParaRPr lang="ru-RU" sz="2400" i="1" dirty="0"/>
          </a:p>
          <a:p>
            <a:pPr marL="742950" indent="-742950" algn="ctr">
              <a:spcBef>
                <a:spcPct val="0"/>
              </a:spcBef>
              <a:defRPr/>
            </a:pPr>
            <a:r>
              <a:rPr lang="ru-RU" sz="2400" i="1" dirty="0"/>
              <a:t>(реагировать на действия пользователя). </a:t>
            </a:r>
            <a:endParaRPr lang="uk-UA" sz="3200" i="1" dirty="0"/>
          </a:p>
        </p:txBody>
      </p:sp>
    </p:spTree>
    <p:extLst>
      <p:ext uri="{BB962C8B-B14F-4D97-AF65-F5344CB8AC3E}">
        <p14:creationId xmlns:p14="http://schemas.microsoft.com/office/powerpoint/2010/main" val="1522117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7200" b="1" dirty="0" smtClean="0"/>
              <a:t>3. На практике</a:t>
            </a:r>
            <a:endParaRPr lang="uk-UA" sz="7200" b="1" dirty="0"/>
          </a:p>
        </p:txBody>
      </p:sp>
    </p:spTree>
    <p:extLst>
      <p:ext uri="{BB962C8B-B14F-4D97-AF65-F5344CB8AC3E}">
        <p14:creationId xmlns:p14="http://schemas.microsoft.com/office/powerpoint/2010/main" val="1320457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6"/>
          <p:cNvSpPr txBox="1">
            <a:spLocks/>
          </p:cNvSpPr>
          <p:nvPr/>
        </p:nvSpPr>
        <p:spPr>
          <a:xfrm>
            <a:off x="11208568" y="6165304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15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l="19844" r="21427" b="7051"/>
          <a:stretch/>
        </p:blipFill>
        <p:spPr>
          <a:xfrm>
            <a:off x="1775520" y="476672"/>
            <a:ext cx="4032449" cy="4386188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6986612" y="768911"/>
            <a:ext cx="52319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 algn="ctr">
              <a:spcBef>
                <a:spcPct val="0"/>
              </a:spcBef>
              <a:defRPr/>
            </a:pPr>
            <a:r>
              <a:rPr lang="ru-RU" sz="3200" b="1" dirty="0"/>
              <a:t>«</a:t>
            </a:r>
            <a:r>
              <a:rPr lang="ru-RU" sz="3200" b="1" dirty="0" err="1" smtClean="0"/>
              <a:t>Листалка</a:t>
            </a:r>
            <a:r>
              <a:rPr lang="ru-RU" sz="3200" b="1" dirty="0" smtClean="0"/>
              <a:t>»</a:t>
            </a:r>
            <a:r>
              <a:rPr lang="en-US" sz="3200" b="1" dirty="0"/>
              <a:t> </a:t>
            </a:r>
            <a:r>
              <a:rPr lang="ru-RU" sz="3200" b="1" dirty="0" smtClean="0"/>
              <a:t>фотографий</a:t>
            </a:r>
            <a:endParaRPr lang="uk-UA" sz="32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367464" y="1844824"/>
            <a:ext cx="417470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Задача </a:t>
            </a:r>
            <a:r>
              <a:rPr lang="en-US" sz="2400" b="1" dirty="0">
                <a:solidFill>
                  <a:srgbClr val="00B050"/>
                </a:solidFill>
              </a:rPr>
              <a:t>JavaScript</a:t>
            </a:r>
            <a:r>
              <a:rPr lang="en-US" sz="2400" dirty="0"/>
              <a:t> – </a:t>
            </a:r>
            <a:r>
              <a:rPr lang="ru-RU" sz="2400" dirty="0"/>
              <a:t>изменять разметку страницы, ссылка на изображение в теге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</a:rPr>
              <a:t>&lt;</a:t>
            </a:r>
            <a:r>
              <a:rPr lang="en-US" sz="2400" b="1" dirty="0" err="1" smtClean="0">
                <a:solidFill>
                  <a:schemeClr val="accent6">
                    <a:lumMod val="75000"/>
                  </a:schemeClr>
                </a:solidFill>
              </a:rPr>
              <a:t>img</a:t>
            </a: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400" b="1" dirty="0" err="1" smtClean="0">
                <a:solidFill>
                  <a:srgbClr val="00B050"/>
                </a:solidFill>
              </a:rPr>
              <a:t>src</a:t>
            </a:r>
            <a:r>
              <a:rPr lang="en-US" sz="2400" b="1" dirty="0" smtClean="0">
                <a:solidFill>
                  <a:srgbClr val="00B050"/>
                </a:solidFill>
              </a:rPr>
              <a:t>=‘…’</a:t>
            </a: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</a:rPr>
              <a:t>&gt; </a:t>
            </a:r>
            <a:r>
              <a:rPr lang="ru-RU" sz="2400" dirty="0"/>
              <a:t>тоже относиться к разметке </a:t>
            </a:r>
            <a:r>
              <a:rPr lang="ru-RU" sz="2400" dirty="0" smtClean="0"/>
              <a:t>страницы…</a:t>
            </a:r>
            <a:endParaRPr lang="ru-R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1776446" y="5457418"/>
            <a:ext cx="89344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/>
              <a:t>Скачайте архив проекта по ссылке: 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en-US" sz="2000" b="1" dirty="0" smtClean="0">
                <a:hlinkClick r:id="rId3"/>
              </a:rPr>
              <a:t>http</a:t>
            </a:r>
            <a:r>
              <a:rPr lang="en-US" sz="2000" b="1" dirty="0">
                <a:hlinkClick r:id="rId3"/>
              </a:rPr>
              <a:t>s</a:t>
            </a:r>
            <a:r>
              <a:rPr lang="en-US" sz="2000" b="1" dirty="0" smtClean="0">
                <a:hlinkClick r:id="rId3"/>
              </a:rPr>
              <a:t>://filebase.xyz/storage/qa/javascript-example.zip</a:t>
            </a:r>
            <a:endParaRPr lang="uk-UA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934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b="1" dirty="0" smtClean="0"/>
              <a:t>4. </a:t>
            </a:r>
            <a:r>
              <a:rPr lang="en-US" sz="6000" b="1" dirty="0" smtClean="0"/>
              <a:t>JavaScript</a:t>
            </a:r>
            <a:r>
              <a:rPr lang="ru-RU" sz="6000" b="1" dirty="0" smtClean="0"/>
              <a:t> – язык </a:t>
            </a:r>
            <a:br>
              <a:rPr lang="ru-RU" sz="6000" b="1" dirty="0" smtClean="0"/>
            </a:br>
            <a:r>
              <a:rPr lang="ru-RU" sz="6000" b="1" dirty="0" smtClean="0"/>
              <a:t>программирования</a:t>
            </a:r>
            <a:endParaRPr lang="uk-UA" sz="6000" b="1" dirty="0"/>
          </a:p>
        </p:txBody>
      </p:sp>
    </p:spTree>
    <p:extLst>
      <p:ext uri="{BB962C8B-B14F-4D97-AF65-F5344CB8AC3E}">
        <p14:creationId xmlns:p14="http://schemas.microsoft.com/office/powerpoint/2010/main" val="1743578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5445224"/>
            <a:ext cx="12192000" cy="504056"/>
          </a:xfrm>
        </p:spPr>
        <p:txBody>
          <a:bodyPr>
            <a:normAutofit fontScale="90000"/>
          </a:bodyPr>
          <a:lstStyle/>
          <a:p>
            <a:r>
              <a:rPr lang="ru-RU" sz="3600" b="1" dirty="0" smtClean="0"/>
              <a:t>Три базовые технологии </a:t>
            </a:r>
            <a:r>
              <a:rPr lang="en-US" sz="3600" b="1" dirty="0" smtClean="0"/>
              <a:t>Front End </a:t>
            </a:r>
            <a:r>
              <a:rPr lang="ru-RU" sz="3600" b="1" dirty="0" smtClean="0"/>
              <a:t>разработки</a:t>
            </a:r>
            <a:endParaRPr lang="ru-RU" sz="3600" b="1" dirty="0"/>
          </a:p>
        </p:txBody>
      </p:sp>
      <p:sp>
        <p:nvSpPr>
          <p:cNvPr id="7" name="Номер слайда 36"/>
          <p:cNvSpPr txBox="1">
            <a:spLocks/>
          </p:cNvSpPr>
          <p:nvPr/>
        </p:nvSpPr>
        <p:spPr>
          <a:xfrm>
            <a:off x="11064552" y="6165304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17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146" name="Picture 2" descr="http://js.devexpress.com/Content/Images/features/html5-css-javascript-logo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4958" y="1196752"/>
            <a:ext cx="10122083" cy="374441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7200" b="1" dirty="0" smtClean="0"/>
              <a:t>5. Алгоритм</a:t>
            </a:r>
            <a:endParaRPr lang="uk-UA" sz="7200" b="1" dirty="0"/>
          </a:p>
        </p:txBody>
      </p:sp>
    </p:spTree>
    <p:extLst>
      <p:ext uri="{BB962C8B-B14F-4D97-AF65-F5344CB8AC3E}">
        <p14:creationId xmlns:p14="http://schemas.microsoft.com/office/powerpoint/2010/main" val="3399214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0" y="341784"/>
            <a:ext cx="12192000" cy="638944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Алгоритм</a:t>
            </a:r>
            <a:endParaRPr lang="uk-UA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127448" y="1196752"/>
            <a:ext cx="1015312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rgbClr val="0070C0"/>
                </a:solidFill>
              </a:rPr>
              <a:t>Задача: </a:t>
            </a:r>
            <a:r>
              <a:rPr lang="ru-RU" sz="3200" dirty="0" smtClean="0"/>
              <a:t>Скрипт</a:t>
            </a:r>
            <a:r>
              <a:rPr lang="ru-RU" sz="3200" dirty="0"/>
              <a:t> </a:t>
            </a:r>
            <a:r>
              <a:rPr lang="ru-RU" sz="3200" dirty="0" smtClean="0"/>
              <a:t>должен рассчитывать </a:t>
            </a:r>
            <a:r>
              <a:rPr lang="ru-RU" sz="3200" dirty="0"/>
              <a:t>сколько гривен </a:t>
            </a:r>
            <a:r>
              <a:rPr lang="ru-RU" sz="3200" b="1" dirty="0"/>
              <a:t>в день</a:t>
            </a:r>
            <a:r>
              <a:rPr lang="ru-RU" sz="3200" dirty="0"/>
              <a:t> </a:t>
            </a:r>
            <a:r>
              <a:rPr lang="ru-RU" sz="3200" dirty="0" smtClean="0"/>
              <a:t>приносит вкладчику </a:t>
            </a:r>
            <a:r>
              <a:rPr lang="ru-RU" sz="3200" dirty="0"/>
              <a:t>депозит размещенный на </a:t>
            </a:r>
            <a:r>
              <a:rPr lang="ru-RU" sz="3200" b="1" dirty="0"/>
              <a:t>полтора года</a:t>
            </a:r>
            <a:r>
              <a:rPr lang="ru-RU" sz="3200" dirty="0"/>
              <a:t> </a:t>
            </a:r>
            <a:r>
              <a:rPr lang="ru-RU" sz="3200" dirty="0" smtClean="0"/>
              <a:t>по</a:t>
            </a:r>
            <a:r>
              <a:rPr lang="en-US" sz="3200" dirty="0" smtClean="0"/>
              <a:t> </a:t>
            </a:r>
            <a:r>
              <a:rPr lang="ru-RU" sz="3200" dirty="0" smtClean="0"/>
              <a:t>ставке в </a:t>
            </a:r>
            <a:r>
              <a:rPr lang="ru-RU" sz="3200" b="1" dirty="0" smtClean="0"/>
              <a:t>20%</a:t>
            </a:r>
            <a:r>
              <a:rPr lang="ru-RU" sz="3200" dirty="0" smtClean="0"/>
              <a:t> </a:t>
            </a:r>
            <a:r>
              <a:rPr lang="ru-RU" sz="3200" dirty="0"/>
              <a:t>годовых?</a:t>
            </a:r>
            <a:endParaRPr lang="uk-UA" sz="32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127448" y="2852936"/>
            <a:ext cx="79928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6">
                    <a:lumMod val="75000"/>
                  </a:schemeClr>
                </a:solidFill>
              </a:rPr>
              <a:t>Проблемы:</a:t>
            </a:r>
          </a:p>
        </p:txBody>
      </p:sp>
      <p:sp>
        <p:nvSpPr>
          <p:cNvPr id="9" name="Номер слайда 36"/>
          <p:cNvSpPr txBox="1">
            <a:spLocks/>
          </p:cNvSpPr>
          <p:nvPr/>
        </p:nvSpPr>
        <p:spPr>
          <a:xfrm>
            <a:off x="10956540" y="6093296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19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1127448" y="3478356"/>
            <a:ext cx="698477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ru-RU" sz="2400" i="1" dirty="0"/>
              <a:t>Дан недостаточный объём данных или часть данных задана неявно, нужно уточнять;</a:t>
            </a:r>
            <a:br>
              <a:rPr lang="ru-RU" sz="2400" i="1" dirty="0"/>
            </a:br>
            <a:endParaRPr lang="ru-RU" sz="2400" i="1" dirty="0"/>
          </a:p>
          <a:p>
            <a:pPr>
              <a:buFont typeface="Wingdings" pitchFamily="2" charset="2"/>
              <a:buChar char="ü"/>
            </a:pPr>
            <a:r>
              <a:rPr lang="ru-RU" sz="2400" i="1" dirty="0"/>
              <a:t>Часть данных </a:t>
            </a:r>
            <a:r>
              <a:rPr lang="ru-RU" sz="2400" i="1" dirty="0" smtClean="0"/>
              <a:t>избыточна;</a:t>
            </a:r>
            <a:r>
              <a:rPr lang="ru-RU" sz="2400" i="1" dirty="0"/>
              <a:t/>
            </a:r>
            <a:br>
              <a:rPr lang="ru-RU" sz="2400" i="1" dirty="0"/>
            </a:br>
            <a:endParaRPr lang="ru-RU" sz="2400" i="1" dirty="0"/>
          </a:p>
          <a:p>
            <a:pPr>
              <a:buFont typeface="Wingdings" pitchFamily="2" charset="2"/>
              <a:buChar char="ü"/>
            </a:pPr>
            <a:r>
              <a:rPr lang="ru-RU" sz="2400" i="1" dirty="0"/>
              <a:t>Есть сторонние факторы, не известные заранее, </a:t>
            </a:r>
            <a:r>
              <a:rPr lang="ru-RU" sz="2400" i="1" dirty="0" smtClean="0"/>
              <a:t>но влияющие </a:t>
            </a:r>
            <a:r>
              <a:rPr lang="ru-RU" sz="2400" i="1" dirty="0"/>
              <a:t>на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316386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/>
        </p:nvSpPr>
        <p:spPr>
          <a:xfrm>
            <a:off x="2063552" y="2411595"/>
            <a:ext cx="79928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00B050"/>
                </a:solidFill>
              </a:rPr>
              <a:t>Алгоритм: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2063553" y="2915651"/>
            <a:ext cx="3035959" cy="3693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/>
            <a:r>
              <a:rPr lang="en-US" dirty="0"/>
              <a:t>1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Уточняем сумму депозита.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2063552" y="3421448"/>
            <a:ext cx="82089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/>
            <a:r>
              <a:rPr lang="ru-RU" dirty="0"/>
              <a:t>2.</a:t>
            </a:r>
            <a:r>
              <a:rPr lang="en-US" dirty="0"/>
              <a:t> </a:t>
            </a:r>
            <a:r>
              <a:rPr lang="ru-RU" dirty="0"/>
              <a:t>Рассчитываем сколько будет дохода за целый год</a:t>
            </a:r>
            <a:r>
              <a:rPr lang="en-US" dirty="0"/>
              <a:t>: </a:t>
            </a:r>
          </a:p>
          <a:p>
            <a:pPr marL="342900" indent="-342900" algn="ctr"/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Доход =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C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умма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*(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20%/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100)</a:t>
            </a:r>
            <a:r>
              <a:rPr lang="en-US" dirty="0"/>
              <a:t>;</a:t>
            </a:r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2063552" y="4069520"/>
            <a:ext cx="82089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/>
            <a:r>
              <a:rPr lang="ru-RU" dirty="0"/>
              <a:t>3. Считаем доход за 1 день</a:t>
            </a:r>
            <a:r>
              <a:rPr lang="en-US" dirty="0"/>
              <a:t>: </a:t>
            </a:r>
          </a:p>
          <a:p>
            <a:pPr marL="342900" indent="-342900" algn="ctr"/>
            <a:r>
              <a:rPr lang="ru-RU" dirty="0" err="1">
                <a:latin typeface="Courier New" pitchFamily="49" charset="0"/>
                <a:cs typeface="Courier New" pitchFamily="49" charset="0"/>
              </a:rPr>
              <a:t>Доход_день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Доход /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Количество_дней_в_году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2063552" y="5507939"/>
            <a:ext cx="8136904" cy="615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/>
            <a:r>
              <a:rPr lang="ru-RU" dirty="0"/>
              <a:t>5. Учитываем налог</a:t>
            </a:r>
            <a:r>
              <a:rPr lang="en-US" dirty="0"/>
              <a:t>:</a:t>
            </a:r>
            <a:r>
              <a:rPr lang="ru-RU" dirty="0"/>
              <a:t> </a:t>
            </a:r>
            <a:endParaRPr lang="en-US" dirty="0"/>
          </a:p>
          <a:p>
            <a:pPr marL="342900" indent="-342900" algn="ctr"/>
            <a:r>
              <a:rPr lang="ru-RU" sz="1600" dirty="0" err="1">
                <a:latin typeface="Courier New" pitchFamily="49" charset="0"/>
                <a:cs typeface="Courier New" pitchFamily="49" charset="0"/>
              </a:rPr>
              <a:t>Доход_день_после_налога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sz="1600" dirty="0" err="1">
                <a:latin typeface="Courier New" pitchFamily="49" charset="0"/>
                <a:cs typeface="Courier New" pitchFamily="49" charset="0"/>
              </a:rPr>
              <a:t>Доход_день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– 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Сумма налога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  <a:endParaRPr lang="ru-RU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2063553" y="6156011"/>
            <a:ext cx="2585195" cy="3693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/>
            <a:r>
              <a:rPr lang="ru-RU" dirty="0"/>
              <a:t>6.</a:t>
            </a:r>
            <a:r>
              <a:rPr lang="en-US" dirty="0"/>
              <a:t> </a:t>
            </a:r>
            <a:r>
              <a:rPr lang="ru-RU" dirty="0"/>
              <a:t>Выводим результаты.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2063552" y="4820376"/>
            <a:ext cx="8136904" cy="615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/>
            <a:r>
              <a:rPr lang="ru-RU" dirty="0"/>
              <a:t>4. </a:t>
            </a:r>
            <a:r>
              <a:rPr lang="ru-RU" dirty="0" err="1"/>
              <a:t>Расчитываем</a:t>
            </a:r>
            <a:r>
              <a:rPr lang="ru-RU" dirty="0"/>
              <a:t> налоги</a:t>
            </a:r>
            <a:r>
              <a:rPr lang="en-US" dirty="0"/>
              <a:t>:</a:t>
            </a:r>
            <a:r>
              <a:rPr lang="ru-RU" dirty="0"/>
              <a:t> </a:t>
            </a:r>
            <a:endParaRPr lang="en-US" dirty="0"/>
          </a:p>
          <a:p>
            <a:pPr marL="342900" indent="-342900" algn="ctr"/>
            <a:r>
              <a:rPr lang="ru-RU" sz="1600" dirty="0" err="1">
                <a:latin typeface="Courier New" pitchFamily="49" charset="0"/>
                <a:cs typeface="Courier New" pitchFamily="49" charset="0"/>
              </a:rPr>
              <a:t>Сумма_налога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sz="1600" dirty="0" err="1">
                <a:latin typeface="Courier New" pitchFamily="49" charset="0"/>
                <a:cs typeface="Courier New" pitchFamily="49" charset="0"/>
              </a:rPr>
              <a:t>Доход_день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*(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(18% + 1,5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/100);</a:t>
            </a:r>
            <a:endParaRPr lang="ru-RU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" name="Заголовок 4"/>
          <p:cNvSpPr txBox="1">
            <a:spLocks/>
          </p:cNvSpPr>
          <p:nvPr/>
        </p:nvSpPr>
        <p:spPr>
          <a:xfrm>
            <a:off x="0" y="116632"/>
            <a:ext cx="12192000" cy="792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ru-RU" sz="4400" b="1" dirty="0">
                <a:latin typeface="+mj-lt"/>
                <a:ea typeface="+mj-ea"/>
                <a:cs typeface="+mj-cs"/>
              </a:rPr>
              <a:t>Алгоритмы</a:t>
            </a:r>
            <a:endParaRPr lang="uk-UA" sz="4400" b="1" dirty="0">
              <a:latin typeface="+mj-lt"/>
              <a:ea typeface="+mj-ea"/>
              <a:cs typeface="+mj-cs"/>
            </a:endParaRPr>
          </a:p>
        </p:txBody>
      </p:sp>
      <p:sp>
        <p:nvSpPr>
          <p:cNvPr id="11" name="Номер слайда 36"/>
          <p:cNvSpPr txBox="1">
            <a:spLocks/>
          </p:cNvSpPr>
          <p:nvPr/>
        </p:nvSpPr>
        <p:spPr>
          <a:xfrm>
            <a:off x="11136560" y="6093296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20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2063552" y="1052736"/>
            <a:ext cx="85689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0070C0"/>
                </a:solidFill>
              </a:rPr>
              <a:t>Задача: </a:t>
            </a:r>
            <a:r>
              <a:rPr lang="ru-RU" sz="2400" dirty="0" smtClean="0"/>
              <a:t>Скрипт</a:t>
            </a:r>
            <a:r>
              <a:rPr lang="ru-RU" sz="2400" dirty="0"/>
              <a:t> </a:t>
            </a:r>
            <a:r>
              <a:rPr lang="ru-RU" sz="2400" dirty="0" smtClean="0"/>
              <a:t>должен рассчитывать </a:t>
            </a:r>
            <a:r>
              <a:rPr lang="ru-RU" sz="2400" dirty="0"/>
              <a:t>сколько гривен </a:t>
            </a:r>
            <a:r>
              <a:rPr lang="ru-RU" sz="2400" b="1" dirty="0"/>
              <a:t>в день</a:t>
            </a:r>
            <a:r>
              <a:rPr lang="ru-RU" sz="2400" dirty="0"/>
              <a:t> </a:t>
            </a:r>
            <a:r>
              <a:rPr lang="ru-RU" sz="2400" dirty="0" smtClean="0"/>
              <a:t>приносит вкладчику </a:t>
            </a:r>
            <a:r>
              <a:rPr lang="ru-RU" sz="2400" dirty="0"/>
              <a:t>депозит размещенный на </a:t>
            </a:r>
            <a:r>
              <a:rPr lang="ru-RU" sz="2400" b="1" dirty="0"/>
              <a:t>полтора года</a:t>
            </a:r>
            <a:r>
              <a:rPr lang="ru-RU" sz="2400" dirty="0"/>
              <a:t> </a:t>
            </a:r>
            <a:r>
              <a:rPr lang="ru-RU" sz="2400" dirty="0" smtClean="0"/>
              <a:t>по</a:t>
            </a:r>
            <a:r>
              <a:rPr lang="en-US" sz="2400" dirty="0" smtClean="0"/>
              <a:t> </a:t>
            </a:r>
            <a:r>
              <a:rPr lang="ru-RU" sz="2400" dirty="0" smtClean="0"/>
              <a:t>ставке в </a:t>
            </a:r>
            <a:r>
              <a:rPr lang="ru-RU" sz="2400" b="1" dirty="0" smtClean="0"/>
              <a:t>20%</a:t>
            </a:r>
            <a:r>
              <a:rPr lang="ru-RU" sz="2400" dirty="0" smtClean="0"/>
              <a:t> </a:t>
            </a:r>
            <a:r>
              <a:rPr lang="ru-RU" sz="2400" dirty="0"/>
              <a:t>годовых?</a:t>
            </a: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3496964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b="1" dirty="0" smtClean="0"/>
              <a:t>Будет полезным</a:t>
            </a:r>
            <a:endParaRPr lang="uk-UA" sz="6000" b="1" dirty="0"/>
          </a:p>
        </p:txBody>
      </p:sp>
    </p:spTree>
    <p:extLst>
      <p:ext uri="{BB962C8B-B14F-4D97-AF65-F5344CB8AC3E}">
        <p14:creationId xmlns:p14="http://schemas.microsoft.com/office/powerpoint/2010/main" val="1950245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6"/>
          <p:cNvSpPr txBox="1">
            <a:spLocks/>
          </p:cNvSpPr>
          <p:nvPr/>
        </p:nvSpPr>
        <p:spPr>
          <a:xfrm>
            <a:off x="11352584" y="6237312"/>
            <a:ext cx="648072" cy="432048"/>
          </a:xfrm>
          <a:prstGeom prst="roundRect">
            <a:avLst/>
          </a:prstGeom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fld id="{6389AA22-90B4-448C-8B6B-C699140D38B9}" type="slidenum">
              <a:rPr lang="uk-UA" sz="2400" b="1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22</a:t>
            </a:fld>
            <a:endParaRPr lang="uk-UA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-12340" y="332656"/>
            <a:ext cx="1219200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300" b="1" dirty="0" smtClean="0"/>
              <a:t>Пора двигаться дальше…</a:t>
            </a:r>
            <a:endParaRPr lang="ru-RU" sz="33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1259124" y="5085184"/>
            <a:ext cx="9649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7030A0"/>
                </a:solidFill>
              </a:rPr>
              <a:t>Предварительные знания – лучший помощник</a:t>
            </a:r>
            <a:r>
              <a:rPr lang="ru-RU" sz="2400" dirty="0"/>
              <a:t> в обучении, поэтому к следующему занятию жду, что </a:t>
            </a:r>
            <a:r>
              <a:rPr lang="ru-RU" sz="2400" b="1" dirty="0" smtClean="0">
                <a:solidFill>
                  <a:srgbClr val="00B050"/>
                </a:solidFill>
              </a:rPr>
              <a:t>Вы</a:t>
            </a:r>
            <a:r>
              <a:rPr lang="ru-RU" sz="2400" b="1" dirty="0" smtClean="0"/>
              <a:t> </a:t>
            </a:r>
            <a:r>
              <a:rPr lang="ru-RU" sz="2400" b="1" dirty="0" smtClean="0">
                <a:solidFill>
                  <a:srgbClr val="FF0000"/>
                </a:solidFill>
              </a:rPr>
              <a:t>обязательно</a:t>
            </a:r>
            <a:r>
              <a:rPr lang="ru-RU" sz="2400" b="1" dirty="0" smtClean="0"/>
              <a:t> </a:t>
            </a:r>
            <a:r>
              <a:rPr lang="ru-RU" sz="2400" b="1" dirty="0" smtClean="0">
                <a:solidFill>
                  <a:srgbClr val="00B050"/>
                </a:solidFill>
              </a:rPr>
              <a:t>посмотрите ролик…</a:t>
            </a:r>
            <a:endParaRPr lang="en-US" sz="2400" b="1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-12340" y="6002124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hlinkClick r:id="rId2"/>
              </a:rPr>
              <a:t>https://</a:t>
            </a:r>
            <a:r>
              <a:rPr lang="en-US" sz="2800" b="1" dirty="0" smtClean="0">
                <a:hlinkClick r:id="rId2"/>
              </a:rPr>
              <a:t>youtu.be/SW_UCzFO7X0?t=167</a:t>
            </a:r>
            <a:endParaRPr lang="uk-UA" sz="2800" b="1" dirty="0"/>
          </a:p>
        </p:txBody>
      </p:sp>
      <p:pic>
        <p:nvPicPr>
          <p:cNvPr id="2" name="Picture 2" descr="https://i.ytimg.com/vi/vgpKEH3rEGs/maxresdefault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050"/>
          <a:stretch/>
        </p:blipFill>
        <p:spPr bwMode="auto">
          <a:xfrm>
            <a:off x="2069698" y="1249015"/>
            <a:ext cx="8027923" cy="35199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6653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3643</TotalTime>
  <Words>677</Words>
  <Application>Microsoft Office PowerPoint</Application>
  <PresentationFormat>Широкоэкранный</PresentationFormat>
  <Paragraphs>83</Paragraphs>
  <Slides>22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8" baseType="lpstr">
      <vt:lpstr>Arial</vt:lpstr>
      <vt:lpstr>Calibri</vt:lpstr>
      <vt:lpstr>Courier New</vt:lpstr>
      <vt:lpstr>Segoe UI Semibold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Задачи JavaScript?</vt:lpstr>
      <vt:lpstr>Задачи JavaScript</vt:lpstr>
      <vt:lpstr>Презентация PowerPoint</vt:lpstr>
      <vt:lpstr>Презентация PowerPoint</vt:lpstr>
      <vt:lpstr>Презентация PowerPoint</vt:lpstr>
      <vt:lpstr>Три базовые технологии Front End разработки</vt:lpstr>
      <vt:lpstr>Презентация PowerPoint</vt:lpstr>
      <vt:lpstr>Алгоритм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Вступление</dc:title>
  <dc:creator>user</dc:creator>
  <cp:lastModifiedBy>Anatoliy Kigel</cp:lastModifiedBy>
  <cp:revision>514</cp:revision>
  <dcterms:created xsi:type="dcterms:W3CDTF">2014-11-20T09:08:59Z</dcterms:created>
  <dcterms:modified xsi:type="dcterms:W3CDTF">2020-11-22T19:07:42Z</dcterms:modified>
</cp:coreProperties>
</file>